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Funding (USD B)</c:v>
                </c:pt>
              </c:strCache>
            </c:strRef>
          </c:tx>
          <c:spPr>
            <a:solidFill>
              <a:srgbClr val="2C7A72"/>
            </a:solidFill>
            <a:ln>
              <a:noFill/>
            </a:ln>
          </c:spPr>
          <c:dLbls>
            <c:numFmt formatCode="$0.00" sourceLinked="0"/>
            <c:txPr>
              <a:bodyPr/>
              <a:lstStyle/>
              <a:p>
                <a:pPr>
                  <a:defRPr sz="900">
                    <a:solidFill>
                      <a:srgbClr val="172D2A"/>
                    </a:solidFill>
                    <a:latin typeface="Apto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8.673022368</c:v>
                </c:pt>
                <c:pt idx="1">
                  <c:v>3.828088608</c:v>
                </c:pt>
                <c:pt idx="2">
                  <c:v>10.42930973</c:v>
                </c:pt>
                <c:pt idx="3">
                  <c:v>5.122368369</c:v>
                </c:pt>
                <c:pt idx="4">
                  <c:v>9.70091853522</c:v>
                </c:pt>
                <c:pt idx="5">
                  <c:v>0.390207254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rgbClr val="172D2A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6DED6"/>
              </a:solidFill>
            </a:ln>
          </c:spPr>
        </c:majorGridlines>
        <c:title>
          <c:tx>
            <c:rich>
              <a:bodyPr/>
              <a:lstStyle/>
              <a:p>
                <a:r>
                  <a:t>USD billions</a:t>
                </a:r>
              </a:p>
            </c:rich>
          </c:tx>
          <c:layout/>
          <c:overlay val="0"/>
        </c:title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rgbClr val="66736D"/>
                </a:solidFill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Funding (USD B)</c:v>
                </c:pt>
              </c:strCache>
            </c:strRef>
          </c:tx>
          <c:spPr>
            <a:solidFill>
              <a:srgbClr val="2C7A72"/>
            </a:solidFill>
            <a:ln>
              <a:noFill/>
            </a:ln>
          </c:spPr>
          <c:dLbls>
            <c:numFmt formatCode="$0.00" sourceLinked="0"/>
            <c:txPr>
              <a:bodyPr/>
              <a:lstStyle/>
              <a:p>
                <a:pPr>
                  <a:defRPr sz="900">
                    <a:solidFill>
                      <a:srgbClr val="172D2A"/>
                    </a:solidFill>
                    <a:latin typeface="Apto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Finance</c:v>
                </c:pt>
                <c:pt idx="1">
                  <c:v>Technology</c:v>
                </c:pt>
                <c:pt idx="2">
                  <c:v>Transportation</c:v>
                </c:pt>
                <c:pt idx="3">
                  <c:v>Consumer Internet</c:v>
                </c:pt>
                <c:pt idx="4">
                  <c:v>E-commerce (case/punctuation variants)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1.971438</c:v>
                </c:pt>
                <c:pt idx="1">
                  <c:v>2.22970793</c:v>
                </c:pt>
                <c:pt idx="2">
                  <c:v>3.916632394</c:v>
                </c:pt>
                <c:pt idx="3">
                  <c:v>6.253084245</c:v>
                </c:pt>
                <c:pt idx="4">
                  <c:v>8.26073569254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USD billions</a:t>
                </a:r>
              </a:p>
            </c:rich>
          </c:tx>
          <c:layout/>
          <c:overlay val="0"/>
        </c:title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rgbClr val="172D2A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6350">
              <a:solidFill>
                <a:srgbClr val="D6DED6"/>
              </a:solidFill>
            </a:ln>
          </c:spPr>
        </c:majorGridlines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rgbClr val="66736D"/>
                </a:solidFill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Funding (USD B)</c:v>
                </c:pt>
              </c:strCache>
            </c:strRef>
          </c:tx>
          <c:spPr>
            <a:solidFill>
              <a:srgbClr val="183F3A"/>
            </a:solidFill>
            <a:ln>
              <a:noFill/>
            </a:ln>
          </c:spPr>
          <c:dLbls>
            <c:numFmt formatCode="$0.00" sourceLinked="0"/>
            <c:txPr>
              <a:bodyPr/>
              <a:lstStyle/>
              <a:p>
                <a:pPr>
                  <a:defRPr sz="900">
                    <a:solidFill>
                      <a:srgbClr val="172D2A"/>
                    </a:solidFill>
                    <a:latin typeface="Apto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Noida</c:v>
                </c:pt>
                <c:pt idx="1">
                  <c:v>New Delhi</c:v>
                </c:pt>
                <c:pt idx="2">
                  <c:v>Gurugram</c:v>
                </c:pt>
                <c:pt idx="3">
                  <c:v>Mumbai</c:v>
                </c:pt>
                <c:pt idx="4">
                  <c:v>Bengaluru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1.283164</c:v>
                </c:pt>
                <c:pt idx="1">
                  <c:v>3.370871515</c:v>
                </c:pt>
                <c:pt idx="2">
                  <c:v>3.87811365754</c:v>
                </c:pt>
                <c:pt idx="3">
                  <c:v>4.958575015</c:v>
                </c:pt>
                <c:pt idx="4">
                  <c:v>18.532908863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USD billions</a:t>
                </a:r>
              </a:p>
            </c:rich>
          </c:tx>
          <c:layout/>
          <c:overlay val="0"/>
        </c:title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rgbClr val="172D2A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6350">
              <a:solidFill>
                <a:srgbClr val="D6DED6"/>
              </a:solidFill>
            </a:ln>
          </c:spPr>
        </c:majorGridlines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rgbClr val="66736D"/>
                </a:solidFill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Funding (USD B)</c:v>
                </c:pt>
              </c:strCache>
            </c:strRef>
          </c:tx>
          <c:spPr>
            <a:solidFill>
              <a:srgbClr val="2C7A72"/>
            </a:solidFill>
            <a:ln>
              <a:noFill/>
            </a:ln>
          </c:spPr>
          <c:dLbls>
            <c:numFmt formatCode="$0.00" sourceLinked="0"/>
            <c:txPr>
              <a:bodyPr/>
              <a:lstStyle/>
              <a:p>
                <a:pPr>
                  <a:defRPr sz="900">
                    <a:solidFill>
                      <a:srgbClr val="172D2A"/>
                    </a:solidFill>
                    <a:latin typeface="Apto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Series A</c:v>
                </c:pt>
                <c:pt idx="1">
                  <c:v>Series C</c:v>
                </c:pt>
                <c:pt idx="2">
                  <c:v>Seed/Angel</c:v>
                </c:pt>
                <c:pt idx="3">
                  <c:v>Other</c:v>
                </c:pt>
                <c:pt idx="4">
                  <c:v>Series D</c:v>
                </c:pt>
                <c:pt idx="5">
                  <c:v>Series B</c:v>
                </c:pt>
                <c:pt idx="6">
                  <c:v>Private Equity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0.247572</c:v>
                </c:pt>
                <c:pt idx="1">
                  <c:v>1.044718394</c:v>
                </c:pt>
                <c:pt idx="2">
                  <c:v>1.056281523</c:v>
                </c:pt>
                <c:pt idx="3">
                  <c:v>1.205432095</c:v>
                </c:pt>
                <c:pt idx="4">
                  <c:v>1.481799</c:v>
                </c:pt>
                <c:pt idx="5">
                  <c:v>4.805195735</c:v>
                </c:pt>
                <c:pt idx="6">
                  <c:v>27.234868165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USD billions</a:t>
                </a:r>
              </a:p>
            </c:rich>
          </c:tx>
          <c:layout/>
          <c:overlay val="0"/>
        </c:title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rgbClr val="172D2A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6350">
              <a:solidFill>
                <a:srgbClr val="D6DED6"/>
              </a:solidFill>
            </a:ln>
          </c:spPr>
        </c:majorGridlines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rgbClr val="66736D"/>
                </a:solidFill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Deal records</c:v>
                </c:pt>
              </c:strCache>
            </c:strRef>
          </c:tx>
          <c:spPr>
            <a:solidFill>
              <a:srgbClr val="D86A4A"/>
            </a:solidFill>
            <a:ln>
              <a:noFill/>
            </a:ln>
          </c:spPr>
          <c:dLbls>
            <c:numFmt formatCode="0" sourceLinked="0"/>
            <c:txPr>
              <a:bodyPr/>
              <a:lstStyle/>
              <a:p>
                <a:pPr>
                  <a:defRPr sz="800">
                    <a:solidFill>
                      <a:srgbClr val="172D2A"/>
                    </a:solidFill>
                    <a:latin typeface="Apto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$10K-$100K</c:v>
                </c:pt>
                <c:pt idx="1">
                  <c:v>$100K-$1M</c:v>
                </c:pt>
                <c:pt idx="2">
                  <c:v>$1M-$10M</c:v>
                </c:pt>
                <c:pt idx="3">
                  <c:v>$10M-$100M</c:v>
                </c:pt>
                <c:pt idx="4">
                  <c:v>$100M-$1B</c:v>
                </c:pt>
                <c:pt idx="5">
                  <c:v>$1B+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65</c:v>
                </c:pt>
                <c:pt idx="1">
                  <c:v>687</c:v>
                </c:pt>
                <c:pt idx="2">
                  <c:v>828</c:v>
                </c:pt>
                <c:pt idx="3">
                  <c:v>420</c:v>
                </c:pt>
                <c:pt idx="4">
                  <c:v>68</c:v>
                </c:pt>
                <c:pt idx="5">
                  <c:v>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800">
                <a:solidFill>
                  <a:srgbClr val="172D2A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6DED6"/>
              </a:solidFill>
            </a:ln>
          </c:spPr>
        </c:majorGridlines>
        <c:title>
          <c:tx>
            <c:rich>
              <a:bodyPr/>
              <a:lstStyle/>
              <a:p>
                <a:r>
                  <a:t>Deal records</a:t>
                </a:r>
              </a:p>
            </c:rich>
          </c:tx>
          <c:layout/>
          <c:overlay val="0"/>
        </c:title>
        <c:majorTickMark val="none"/>
        <c:minorTickMark val="none"/>
        <c:tickLblPos val="nextTo"/>
        <c:txPr>
          <a:bodyPr/>
          <a:lstStyle/>
          <a:p>
            <a:pPr>
              <a:defRPr sz="800">
                <a:solidFill>
                  <a:srgbClr val="66736D"/>
                </a:solidFill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0" y="4069079"/>
            <a:ext cx="384048" cy="1005840"/>
          </a:xfrm>
          <a:prstGeom prst="rect">
            <a:avLst/>
          </a:prstGeom>
          <a:solidFill>
            <a:srgbClr val="2C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96528" y="3429000"/>
            <a:ext cx="384048" cy="1645920"/>
          </a:xfrm>
          <a:prstGeom prst="rect">
            <a:avLst/>
          </a:prstGeom>
          <a:solidFill>
            <a:srgbClr val="C9A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63456" y="2606039"/>
            <a:ext cx="384048" cy="2468880"/>
          </a:xfrm>
          <a:prstGeom prst="rect">
            <a:avLst/>
          </a:prstGeom>
          <a:solidFill>
            <a:srgbClr val="D8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30384" y="1874519"/>
            <a:ext cx="384048" cy="3200400"/>
          </a:xfrm>
          <a:prstGeom prst="rect">
            <a:avLst/>
          </a:prstGeom>
          <a:solidFill>
            <a:srgbClr val="DF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97312" y="3063239"/>
            <a:ext cx="384048" cy="2011680"/>
          </a:xfrm>
          <a:prstGeom prst="rect">
            <a:avLst/>
          </a:prstGeom>
          <a:solidFill>
            <a:srgbClr val="2C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39327" y="1005840"/>
            <a:ext cx="384048" cy="384048"/>
          </a:xfrm>
          <a:prstGeom prst="ellipse">
            <a:avLst/>
          </a:prstGeom>
          <a:solidFill>
            <a:srgbClr val="D8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0" y="1600200"/>
            <a:ext cx="292608" cy="292608"/>
          </a:xfrm>
          <a:prstGeom prst="ellipse">
            <a:avLst/>
          </a:prstGeom>
          <a:solidFill>
            <a:srgbClr val="C9A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68128" y="777240"/>
            <a:ext cx="228600" cy="228600"/>
          </a:xfrm>
          <a:prstGeom prst="ellipse">
            <a:avLst/>
          </a:prstGeom>
          <a:solidFill>
            <a:srgbClr val="DF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44200" y="2103120"/>
            <a:ext cx="475488" cy="475488"/>
          </a:xfrm>
          <a:prstGeom prst="ellipse">
            <a:avLst/>
          </a:prstGeom>
          <a:solidFill>
            <a:srgbClr val="2C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02920"/>
            <a:ext cx="5029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9A456"/>
                </a:solidFill>
                <a:latin typeface="Aptos"/>
              </a:rPr>
              <a:t>MARKET INTELLIGENCE  /  INDIA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143000"/>
            <a:ext cx="6583680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 i="0">
                <a:solidFill>
                  <a:srgbClr val="F5F1E7"/>
                </a:solidFill>
                <a:latin typeface="Aptos Display"/>
              </a:rPr>
              <a:t>CAPITAL
IN MOTION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971800"/>
            <a:ext cx="63093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ptos Display"/>
              </a:rPr>
              <a:t>Indian Startup Funding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3611880"/>
            <a:ext cx="58521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DFE8E0"/>
                </a:solidFill>
                <a:latin typeface="Aptos"/>
              </a:rPr>
              <a:t>2015–2020  |  Funding concentration, data quality, and decision readiness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343400"/>
            <a:ext cx="5303520" cy="36576"/>
          </a:xfrm>
          <a:prstGeom prst="rect">
            <a:avLst/>
          </a:prstGeom>
          <a:solidFill>
            <a:srgbClr val="D8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4645152"/>
            <a:ext cx="594360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5F1E7"/>
                </a:solidFill>
                <a:latin typeface="Aptos"/>
              </a:rPr>
              <a:t>A source-led management review using 3,044 records and disclosed amounts only.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263640"/>
            <a:ext cx="6126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DFE8E0"/>
                </a:solidFill>
                <a:latin typeface="Aptos"/>
              </a:rPr>
              <a:t>PREPARED 28 OCTOBER 2026  •  DATA CURRENCY AS LABELED IN SOURCE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263640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C9A456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98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D86A4A"/>
                </a:solidFill>
                <a:latin typeface="Aptos"/>
              </a:rPr>
              <a:t>00 / EXECUTIVE READOUT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83F3A"/>
                </a:solidFill>
                <a:latin typeface="Aptos Display"/>
              </a:rPr>
              <a:t>Funding is concentrated; confidence needs stronger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6736D"/>
                </a:solidFill>
                <a:latin typeface="Aptos"/>
              </a:rPr>
              <a:t>Observed results support a descriptive baseline, not unqualified market-wide claims.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105156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 i="0">
                <a:solidFill>
                  <a:srgbClr val="66736D"/>
                </a:solidFill>
                <a:latin typeface="Aptos"/>
              </a:rPr>
              <a:t>SOURCE: CLEANED CSV — RECALCULATED; SQL/PBI RUNTIME NOT INDEPENDENTLY EXECUTED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D86A4A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36192"/>
            <a:ext cx="2688336" cy="1325880"/>
          </a:xfrm>
          <a:prstGeom prst="roundRect">
            <a:avLst>
              <a:gd name="adj" fmla="val 8000"/>
            </a:avLst>
          </a:prstGeom>
          <a:solidFill>
            <a:srgbClr val="FCFBF7"/>
          </a:solidFill>
          <a:ln w="8890">
            <a:solidFill>
              <a:srgbClr val="D6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36192"/>
            <a:ext cx="64008" cy="1325880"/>
          </a:xfrm>
          <a:prstGeom prst="rect">
            <a:avLst/>
          </a:prstGeom>
          <a:solidFill>
            <a:srgbClr val="2C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645919"/>
            <a:ext cx="244144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6736D"/>
                </a:solidFill>
                <a:latin typeface="Aptos"/>
              </a:rPr>
              <a:t>DISCLOSED FUNDING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901952"/>
            <a:ext cx="2459736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83F3A"/>
                </a:solidFill>
                <a:latin typeface="Aptos Display"/>
              </a:rPr>
              <a:t>$38.14B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478024"/>
            <a:ext cx="243230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36D"/>
                </a:solidFill>
                <a:latin typeface="Aptos"/>
              </a:rPr>
              <a:t>2,073 records with numeric amounts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1536192"/>
            <a:ext cx="2688336" cy="1325880"/>
          </a:xfrm>
          <a:prstGeom prst="roundRect">
            <a:avLst>
              <a:gd name="adj" fmla="val 8000"/>
            </a:avLst>
          </a:prstGeom>
          <a:solidFill>
            <a:srgbClr val="FCFBF7"/>
          </a:solidFill>
          <a:ln w="8890">
            <a:solidFill>
              <a:srgbClr val="D6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55848" y="1536192"/>
            <a:ext cx="64008" cy="1325880"/>
          </a:xfrm>
          <a:prstGeom prst="rect">
            <a:avLst/>
          </a:prstGeom>
          <a:solidFill>
            <a:srgbClr val="D8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645919"/>
            <a:ext cx="244144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6736D"/>
                </a:solidFill>
                <a:latin typeface="Aptos"/>
              </a:rPr>
              <a:t>AMOUNT COVERAGE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1901952"/>
            <a:ext cx="2459736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83F3A"/>
                </a:solidFill>
                <a:latin typeface="Aptos Display"/>
              </a:rPr>
              <a:t>68.1%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478024"/>
            <a:ext cx="243230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36D"/>
                </a:solidFill>
                <a:latin typeface="Aptos"/>
              </a:rPr>
              <a:t>971 rows remain undisclosed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1536192"/>
            <a:ext cx="2688336" cy="1325880"/>
          </a:xfrm>
          <a:prstGeom prst="roundRect">
            <a:avLst>
              <a:gd name="adj" fmla="val 8000"/>
            </a:avLst>
          </a:prstGeom>
          <a:solidFill>
            <a:srgbClr val="FCFBF7"/>
          </a:solidFill>
          <a:ln w="8890">
            <a:solidFill>
              <a:srgbClr val="D6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8776" y="1536192"/>
            <a:ext cx="64008" cy="1325880"/>
          </a:xfrm>
          <a:prstGeom prst="rect">
            <a:avLst/>
          </a:prstGeom>
          <a:solidFill>
            <a:srgbClr val="C9A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1645919"/>
            <a:ext cx="244144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6736D"/>
                </a:solidFill>
                <a:latin typeface="Aptos"/>
              </a:rPr>
              <a:t>PRIVATE EQUITY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1901952"/>
            <a:ext cx="2459736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83F3A"/>
                </a:solidFill>
                <a:latin typeface="Aptos Display"/>
              </a:rPr>
              <a:t>71.4%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2478024"/>
            <a:ext cx="243230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36D"/>
                </a:solidFill>
                <a:latin typeface="Aptos"/>
              </a:rPr>
              <a:t>share of disclosed USD total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61704" y="1536192"/>
            <a:ext cx="2688336" cy="1325880"/>
          </a:xfrm>
          <a:prstGeom prst="roundRect">
            <a:avLst>
              <a:gd name="adj" fmla="val 8000"/>
            </a:avLst>
          </a:prstGeom>
          <a:solidFill>
            <a:srgbClr val="FCFBF7"/>
          </a:solidFill>
          <a:ln w="8890">
            <a:solidFill>
              <a:srgbClr val="D6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61704" y="1536192"/>
            <a:ext cx="64008" cy="1325880"/>
          </a:xfrm>
          <a:prstGeom prst="rect">
            <a:avLst/>
          </a:prstGeom>
          <a:solidFill>
            <a:srgbClr val="183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26296" y="1645919"/>
            <a:ext cx="244144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6736D"/>
                </a:solidFill>
                <a:latin typeface="Aptos"/>
              </a:rPr>
              <a:t>TOP 5 CITY SHARE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6296" y="1901952"/>
            <a:ext cx="2459736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83F3A"/>
                </a:solidFill>
                <a:latin typeface="Aptos Display"/>
              </a:rPr>
              <a:t>84.0%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26296" y="2478024"/>
            <a:ext cx="243230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36D"/>
                </a:solidFill>
                <a:latin typeface="Aptos"/>
              </a:rPr>
              <a:t>funding in five highest city labels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218688"/>
            <a:ext cx="6812280" cy="2587752"/>
          </a:xfrm>
          <a:prstGeom prst="roundRect">
            <a:avLst>
              <a:gd name="adj" fmla="val 8000"/>
            </a:avLst>
          </a:prstGeom>
          <a:solidFill>
            <a:srgbClr val="FCFBF7"/>
          </a:solidFill>
          <a:ln w="8890">
            <a:solidFill>
              <a:srgbClr val="D6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3456432"/>
            <a:ext cx="6217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D86A4A"/>
                </a:solidFill>
                <a:latin typeface="Aptos"/>
              </a:rPr>
              <a:t>THE DECISION 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3794760"/>
            <a:ext cx="617220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83F3A"/>
                </a:solidFill>
                <a:latin typeface="Aptos Display"/>
              </a:rPr>
              <a:t>A few large rounds and a few city labels drive much of the total.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" y="4599432"/>
            <a:ext cx="617220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172D2A"/>
                </a:solidFill>
                <a:latin typeface="Aptos"/>
              </a:rPr>
              <a:t>•  Largest recorded round: $3.90B (Rapido Bike Taxi); validate before interpretation.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172D2A"/>
                </a:solidFill>
                <a:latin typeface="Aptos"/>
              </a:rPr>
              <a:t>•  Mean deal size ($18.40M) is 10.5× the median ($1.75M).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71231" y="3218688"/>
            <a:ext cx="4105656" cy="2587752"/>
          </a:xfrm>
          <a:prstGeom prst="roundRect">
            <a:avLst>
              <a:gd name="adj" fmla="val 8000"/>
            </a:avLst>
          </a:prstGeom>
          <a:solidFill>
            <a:srgbClr val="F4E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71231" y="3218688"/>
            <a:ext cx="64008" cy="2587752"/>
          </a:xfrm>
          <a:prstGeom prst="rect">
            <a:avLst/>
          </a:prstGeom>
          <a:solidFill>
            <a:srgbClr val="D8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35823" y="3337560"/>
            <a:ext cx="384962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83F3A"/>
                </a:solidFill>
                <a:latin typeface="Aptos"/>
              </a:rPr>
              <a:t>READ THIS AS A DATASET 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35823" y="3611880"/>
            <a:ext cx="3849624" cy="21305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72D2A"/>
                </a:solidFill>
                <a:latin typeface="Aptos"/>
              </a:rPr>
              <a:t>Records fall from 993 in 2016 to 111 in 2019 and 7 in January 2020. Without a completeness benchmark, that is not proof of a market contraction. Industry and investor rankings are also sensitive to naming inconsistencies.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37960"/>
            <a:ext cx="105156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 i="0">
                <a:solidFill>
                  <a:srgbClr val="66736D"/>
                </a:solidFill>
                <a:latin typeface="Aptos"/>
              </a:rPr>
              <a:t>SOURCE: CLEANED CSV — RECALCULATED; SQL/PBI RUNTIME NOT INDEPENDENTLY EXECUTED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D86A4A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98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D86A4A"/>
                </a:solidFill>
                <a:latin typeface="Aptos"/>
              </a:rPr>
              <a:t>01 / BUSINESS 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83F3A"/>
                </a:solidFill>
                <a:latin typeface="Aptos Display"/>
              </a:rPr>
              <a:t>Six questions, one decision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6736D"/>
                </a:solidFill>
                <a:latin typeface="Aptos"/>
              </a:rPr>
              <a:t>Preserve the original project scope: discover how recorded funding varies by time, industry, city, stage, investor, and deal size.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105156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 i="0">
                <a:solidFill>
                  <a:srgbClr val="66736D"/>
                </a:solidFill>
                <a:latin typeface="Aptos"/>
              </a:rPr>
              <a:t>SOURCE: CLEANED CSV — RECALCULATED; SQL/PBI RUNTIME NOT INDEPENDENTLY EXECUTED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D86A4A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321808" cy="1133856"/>
          </a:xfrm>
          <a:prstGeom prst="roundRect">
            <a:avLst>
              <a:gd name="adj" fmla="val 8000"/>
            </a:avLst>
          </a:prstGeom>
          <a:solidFill>
            <a:srgbClr val="F5F1E7"/>
          </a:solidFill>
          <a:ln w="8890">
            <a:solidFill>
              <a:srgbClr val="D6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764792"/>
            <a:ext cx="53035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D86A4A"/>
                </a:solidFill>
                <a:latin typeface="Aptos Display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746504"/>
            <a:ext cx="41605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C7A72"/>
                </a:solidFill>
                <a:latin typeface="Aptos"/>
              </a:rPr>
              <a:t>FUNDING OVER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020824"/>
            <a:ext cx="4224528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72D2A"/>
                </a:solidFill>
                <a:latin typeface="Aptos"/>
              </a:rPr>
              <a:t>How do deal records and dollar amounts change month-over-month and year-over-year?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00200"/>
            <a:ext cx="5321808" cy="1133856"/>
          </a:xfrm>
          <a:prstGeom prst="roundRect">
            <a:avLst>
              <a:gd name="adj" fmla="val 8000"/>
            </a:avLst>
          </a:prstGeom>
          <a:solidFill>
            <a:srgbClr val="F5F1E7"/>
          </a:solidFill>
          <a:ln w="8890">
            <a:solidFill>
              <a:srgbClr val="D6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764792"/>
            <a:ext cx="53035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D86A4A"/>
                </a:solidFill>
                <a:latin typeface="Aptos Display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746504"/>
            <a:ext cx="41605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C7A72"/>
                </a:solidFill>
                <a:latin typeface="Aptos"/>
              </a:rPr>
              <a:t>INDUSTRY MIX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2020824"/>
            <a:ext cx="4224528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72D2A"/>
                </a:solidFill>
                <a:latin typeface="Aptos"/>
              </a:rPr>
              <a:t>Which industries received the most funding, and how did that shift?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990088"/>
            <a:ext cx="5321808" cy="1133856"/>
          </a:xfrm>
          <a:prstGeom prst="roundRect">
            <a:avLst>
              <a:gd name="adj" fmla="val 8000"/>
            </a:avLst>
          </a:prstGeom>
          <a:solidFill>
            <a:srgbClr val="F5F1E7"/>
          </a:solidFill>
          <a:ln w="8890">
            <a:solidFill>
              <a:srgbClr val="D6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154680"/>
            <a:ext cx="53035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D86A4A"/>
                </a:solidFill>
                <a:latin typeface="Aptos Display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136392"/>
            <a:ext cx="41605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C7A72"/>
                </a:solidFill>
                <a:latin typeface="Aptos"/>
              </a:rPr>
              <a:t>CITY HUBS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410712"/>
            <a:ext cx="4224528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72D2A"/>
                </a:solidFill>
                <a:latin typeface="Aptos"/>
              </a:rPr>
              <a:t>Which cities are largest by funding volume?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990088"/>
            <a:ext cx="5321808" cy="1133856"/>
          </a:xfrm>
          <a:prstGeom prst="roundRect">
            <a:avLst>
              <a:gd name="adj" fmla="val 8000"/>
            </a:avLst>
          </a:prstGeom>
          <a:solidFill>
            <a:srgbClr val="F5F1E7"/>
          </a:solidFill>
          <a:ln w="8890">
            <a:solidFill>
              <a:srgbClr val="D6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154680"/>
            <a:ext cx="53035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D86A4A"/>
                </a:solidFill>
                <a:latin typeface="Aptos Display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3136392"/>
            <a:ext cx="41605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C7A72"/>
                </a:solidFill>
                <a:latin typeface="Aptos"/>
              </a:rPr>
              <a:t>FUNDING STAGE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3410712"/>
            <a:ext cx="4224528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72D2A"/>
                </a:solidFill>
                <a:latin typeface="Aptos"/>
              </a:rPr>
              <a:t>How is disclosed capital distributed across Seed, Series A/B/C, Private Equity, Debt and other types?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379976"/>
            <a:ext cx="5321808" cy="1133856"/>
          </a:xfrm>
          <a:prstGeom prst="roundRect">
            <a:avLst>
              <a:gd name="adj" fmla="val 8000"/>
            </a:avLst>
          </a:prstGeom>
          <a:solidFill>
            <a:srgbClr val="F5F1E7"/>
          </a:solidFill>
          <a:ln w="8890">
            <a:solidFill>
              <a:srgbClr val="D6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4544568"/>
            <a:ext cx="53035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D86A4A"/>
                </a:solidFill>
                <a:latin typeface="Aptos Display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526280"/>
            <a:ext cx="41605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C7A72"/>
                </a:solidFill>
                <a:latin typeface="Aptos"/>
              </a:rPr>
              <a:t>INVESTOR LANDSCAPE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800600"/>
            <a:ext cx="4224528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72D2A"/>
                </a:solidFill>
                <a:latin typeface="Aptos"/>
              </a:rPr>
              <a:t>Which investors appear in the most deal records and funding amounts?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379976"/>
            <a:ext cx="5321808" cy="1133856"/>
          </a:xfrm>
          <a:prstGeom prst="roundRect">
            <a:avLst>
              <a:gd name="adj" fmla="val 8000"/>
            </a:avLst>
          </a:prstGeom>
          <a:solidFill>
            <a:srgbClr val="F5F1E7"/>
          </a:solidFill>
          <a:ln w="8890">
            <a:solidFill>
              <a:srgbClr val="D6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792" y="4544568"/>
            <a:ext cx="53035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D86A4A"/>
                </a:solidFill>
                <a:latin typeface="Aptos Display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4526280"/>
            <a:ext cx="41605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C7A72"/>
                </a:solidFill>
                <a:latin typeface="Aptos"/>
              </a:rPr>
              <a:t>DEAL SIZE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4800600"/>
            <a:ext cx="4224528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72D2A"/>
                </a:solidFill>
                <a:latin typeface="Aptos"/>
              </a:rPr>
              <a:t>How do mean and median amounts vary by industry and stage?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833872"/>
            <a:ext cx="10972800" cy="457200"/>
          </a:xfrm>
          <a:prstGeom prst="roundRect">
            <a:avLst>
              <a:gd name="adj" fmla="val 8000"/>
            </a:avLst>
          </a:prstGeom>
          <a:solidFill>
            <a:srgbClr val="DF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5833872"/>
            <a:ext cx="64008" cy="457200"/>
          </a:xfrm>
          <a:prstGeom prst="rect">
            <a:avLst/>
          </a:prstGeom>
          <a:solidFill>
            <a:srgbClr val="2C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5952744"/>
            <a:ext cx="107167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183F3A"/>
                </a:solidFill>
                <a:latin typeface="Aptos"/>
              </a:rPr>
              <a:t>BOUNDARY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6227064"/>
            <a:ext cx="10716768" cy="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72D2A"/>
                </a:solidFill>
                <a:latin typeface="Aptos"/>
              </a:rPr>
              <a:t>Describe what the supplied records show. Do not infer market coverage, root causes, or investment impact where the files do not support those claims.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37960"/>
            <a:ext cx="105156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 i="0">
                <a:solidFill>
                  <a:srgbClr val="66736D"/>
                </a:solidFill>
                <a:latin typeface="Aptos"/>
              </a:rPr>
              <a:t>SOURCE: CLEANED CSV — RECALCULATED; SQL/PBI RUNTIME NOT INDEPENDENTLY EXECUTED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D86A4A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98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D86A4A"/>
                </a:solidFill>
                <a:latin typeface="Aptos"/>
              </a:rPr>
              <a:t>02 / DATA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83F3A"/>
                </a:solidFill>
                <a:latin typeface="Aptos Display"/>
              </a:rPr>
              <a:t>The table is usable; taxonomies and coverage still limit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6736D"/>
                </a:solidFill>
                <a:latin typeface="Aptos"/>
              </a:rPr>
              <a:t>Core numerical calculations reconcile to the cleaned CSV, but category-level analysis needs controls.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105156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 i="0">
                <a:solidFill>
                  <a:srgbClr val="66736D"/>
                </a:solidFill>
                <a:latin typeface="Aptos"/>
              </a:rPr>
              <a:t>SOURCE: CLEANED CSV — RECALCULATED; SQL/PBI RUNTIME NOT INDEPENDENTLY EXECUTED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D86A4A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493008" cy="950976"/>
          </a:xfrm>
          <a:prstGeom prst="roundRect">
            <a:avLst>
              <a:gd name="adj" fmla="val 8000"/>
            </a:avLst>
          </a:prstGeom>
          <a:solidFill>
            <a:srgbClr val="FCFBF7"/>
          </a:solidFill>
          <a:ln w="8890">
            <a:solidFill>
              <a:srgbClr val="D6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64008" cy="950976"/>
          </a:xfrm>
          <a:prstGeom prst="rect">
            <a:avLst/>
          </a:prstGeom>
          <a:solidFill>
            <a:srgbClr val="2C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09928"/>
            <a:ext cx="32461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6736D"/>
                </a:solidFill>
                <a:latin typeface="Aptos"/>
              </a:rPr>
              <a:t>ROWS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965960"/>
            <a:ext cx="3264408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83F3A"/>
                </a:solidFill>
                <a:latin typeface="Aptos Display"/>
              </a:rPr>
              <a:t>3,044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167128"/>
            <a:ext cx="323697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36D"/>
                </a:solidFill>
                <a:latin typeface="Aptos"/>
              </a:rPr>
              <a:t>all records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600200"/>
            <a:ext cx="3493008" cy="950976"/>
          </a:xfrm>
          <a:prstGeom prst="roundRect">
            <a:avLst>
              <a:gd name="adj" fmla="val 8000"/>
            </a:avLst>
          </a:prstGeom>
          <a:solidFill>
            <a:srgbClr val="FCFBF7"/>
          </a:solidFill>
          <a:ln w="8890">
            <a:solidFill>
              <a:srgbClr val="D6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600200"/>
            <a:ext cx="64008" cy="950976"/>
          </a:xfrm>
          <a:prstGeom prst="rect">
            <a:avLst/>
          </a:prstGeom>
          <a:solidFill>
            <a:srgbClr val="C9A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59" y="1709928"/>
            <a:ext cx="32461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6736D"/>
                </a:solidFill>
                <a:latin typeface="Aptos"/>
              </a:rPr>
              <a:t>AMOUNT VALUES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1965960"/>
            <a:ext cx="3264408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83F3A"/>
                </a:solidFill>
                <a:latin typeface="Aptos Display"/>
              </a:rPr>
              <a:t>2,073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2167128"/>
            <a:ext cx="323697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36D"/>
                </a:solidFill>
                <a:latin typeface="Aptos"/>
              </a:rPr>
              <a:t>numeric disclosed values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1600200"/>
            <a:ext cx="3493008" cy="950976"/>
          </a:xfrm>
          <a:prstGeom prst="roundRect">
            <a:avLst>
              <a:gd name="adj" fmla="val 8000"/>
            </a:avLst>
          </a:prstGeom>
          <a:solidFill>
            <a:srgbClr val="FCFBF7"/>
          </a:solidFill>
          <a:ln w="8890">
            <a:solidFill>
              <a:srgbClr val="D6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3296" y="1600200"/>
            <a:ext cx="64008" cy="950976"/>
          </a:xfrm>
          <a:prstGeom prst="rect">
            <a:avLst/>
          </a:prstGeom>
          <a:solidFill>
            <a:srgbClr val="D8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1709928"/>
            <a:ext cx="32461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6736D"/>
                </a:solidFill>
                <a:latin typeface="Aptos"/>
              </a:rPr>
              <a:t>AMOUNT MISSING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1965960"/>
            <a:ext cx="3264408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83F3A"/>
                </a:solidFill>
                <a:latin typeface="Aptos Display"/>
              </a:rPr>
              <a:t>971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167128"/>
            <a:ext cx="323697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36D"/>
                </a:solidFill>
                <a:latin typeface="Aptos"/>
              </a:rPr>
              <a:t>31.9% of records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761488"/>
            <a:ext cx="3493008" cy="950976"/>
          </a:xfrm>
          <a:prstGeom prst="roundRect">
            <a:avLst>
              <a:gd name="adj" fmla="val 8000"/>
            </a:avLst>
          </a:prstGeom>
          <a:solidFill>
            <a:srgbClr val="FCFBF7"/>
          </a:solidFill>
          <a:ln w="8890">
            <a:solidFill>
              <a:srgbClr val="D6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2761488"/>
            <a:ext cx="64008" cy="950976"/>
          </a:xfrm>
          <a:prstGeom prst="rect">
            <a:avLst/>
          </a:prstGeom>
          <a:solidFill>
            <a:srgbClr val="2C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2871216"/>
            <a:ext cx="32461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6736D"/>
                </a:solidFill>
                <a:latin typeface="Aptos"/>
              </a:rPr>
              <a:t>RAW INDUSTRY LABELS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3127248"/>
            <a:ext cx="3264408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83F3A"/>
                </a:solidFill>
                <a:latin typeface="Aptos Display"/>
              </a:rPr>
              <a:t>822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3328416"/>
            <a:ext cx="323697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36D"/>
                </a:solidFill>
                <a:latin typeface="Aptos"/>
              </a:rPr>
              <a:t>long-tail labels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15968" y="2761488"/>
            <a:ext cx="3493008" cy="950976"/>
          </a:xfrm>
          <a:prstGeom prst="roundRect">
            <a:avLst>
              <a:gd name="adj" fmla="val 8000"/>
            </a:avLst>
          </a:prstGeom>
          <a:solidFill>
            <a:srgbClr val="FCFBF7"/>
          </a:solidFill>
          <a:ln w="8890">
            <a:solidFill>
              <a:srgbClr val="D6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15968" y="2761488"/>
            <a:ext cx="64008" cy="950976"/>
          </a:xfrm>
          <a:prstGeom prst="rect">
            <a:avLst/>
          </a:prstGeom>
          <a:solidFill>
            <a:srgbClr val="C9A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59" y="2871216"/>
            <a:ext cx="32461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6736D"/>
                </a:solidFill>
                <a:latin typeface="Aptos"/>
              </a:rPr>
              <a:t>CITY LABELS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59" y="3127248"/>
            <a:ext cx="3264408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83F3A"/>
                </a:solidFill>
                <a:latin typeface="Aptos Display"/>
              </a:rPr>
              <a:t>73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59" y="3328416"/>
            <a:ext cx="323697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36D"/>
                </a:solidFill>
                <a:latin typeface="Aptos"/>
              </a:rPr>
              <a:t>includes non-city/geography statuses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83296" y="2761488"/>
            <a:ext cx="3493008" cy="950976"/>
          </a:xfrm>
          <a:prstGeom prst="roundRect">
            <a:avLst>
              <a:gd name="adj" fmla="val 8000"/>
            </a:avLst>
          </a:prstGeom>
          <a:solidFill>
            <a:srgbClr val="FCFBF7"/>
          </a:solidFill>
          <a:ln w="8890">
            <a:solidFill>
              <a:srgbClr val="D6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83296" y="2761488"/>
            <a:ext cx="64008" cy="950976"/>
          </a:xfrm>
          <a:prstGeom prst="rect">
            <a:avLst/>
          </a:prstGeom>
          <a:solidFill>
            <a:srgbClr val="D8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7888" y="2871216"/>
            <a:ext cx="32461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6736D"/>
                </a:solidFill>
                <a:latin typeface="Aptos"/>
              </a:rPr>
              <a:t>INVESTOR STRINGS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47888" y="3127248"/>
            <a:ext cx="3264408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83F3A"/>
                </a:solidFill>
                <a:latin typeface="Aptos Display"/>
              </a:rPr>
              <a:t>2,364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47888" y="3328416"/>
            <a:ext cx="323697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36D"/>
                </a:solidFill>
                <a:latin typeface="Aptos"/>
              </a:rPr>
              <a:t>not individual investor count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178808"/>
            <a:ext cx="6720840" cy="1719072"/>
          </a:xfrm>
          <a:prstGeom prst="roundRect">
            <a:avLst>
              <a:gd name="adj" fmla="val 8000"/>
            </a:avLst>
          </a:prstGeom>
          <a:solidFill>
            <a:srgbClr val="FCFBF7"/>
          </a:solidFill>
          <a:ln w="8890">
            <a:solidFill>
              <a:srgbClr val="D6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8952" y="4370832"/>
            <a:ext cx="6035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D86A4A"/>
                </a:solidFill>
                <a:latin typeface="Aptos"/>
              </a:rPr>
              <a:t>WHAT THE CLEANING NOTEBOOK REPORTS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" y="4718304"/>
            <a:ext cx="60807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950">
                <a:solidFill>
                  <a:srgbClr val="172D2A"/>
                </a:solidFill>
                <a:latin typeface="Aptos"/>
              </a:rPr>
              <a:t>•  8 malformed date strings repaired; 0 unparseable dates in stored output.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172D2A"/>
                </a:solidFill>
                <a:latin typeface="Aptos"/>
              </a:rPr>
              <a:t>•  Amount strings parsed; missing values retained as null, not zero.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172D2A"/>
                </a:solidFill>
                <a:latin typeface="Aptos"/>
              </a:rPr>
              <a:t>•  0 exact duplicates removed; low-value Remarks and serial index dropped.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79792" y="4178808"/>
            <a:ext cx="4160520" cy="1719072"/>
          </a:xfrm>
          <a:prstGeom prst="roundRect">
            <a:avLst>
              <a:gd name="adj" fmla="val 8000"/>
            </a:avLst>
          </a:prstGeom>
          <a:solidFill>
            <a:srgbClr val="F4E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479792" y="4178808"/>
            <a:ext cx="64008" cy="1719072"/>
          </a:xfrm>
          <a:prstGeom prst="rect">
            <a:avLst/>
          </a:prstGeom>
          <a:solidFill>
            <a:srgbClr val="D8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44383" y="4297680"/>
            <a:ext cx="3904487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83F3A"/>
                </a:solidFill>
                <a:latin typeface="Aptos"/>
              </a:rPr>
              <a:t>VALIDATION LIMIT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44383" y="4572000"/>
            <a:ext cx="3904487" cy="1261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72D2A"/>
                </a:solidFill>
                <a:latin typeface="Aptos"/>
              </a:rPr>
              <a:t>The raw_startup_funding.csv file referenced by the notebook was not supplied, so the full cleaning pipeline could not be re-executed. This review independently recalculated metrics from the cleaned CSV.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537960"/>
            <a:ext cx="105156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 i="0">
                <a:solidFill>
                  <a:srgbClr val="66736D"/>
                </a:solidFill>
                <a:latin typeface="Aptos"/>
              </a:rPr>
              <a:t>SOURCE: CLEANED CSV — RECALCULATED; SQL/PBI RUNTIME NOT INDEPENDENTLY EXECUTED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D86A4A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98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D86A4A"/>
                </a:solidFill>
                <a:latin typeface="Aptos"/>
              </a:rPr>
              <a:t>03 / FUNDING 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83F3A"/>
                </a:solidFill>
                <a:latin typeface="Aptos Display"/>
              </a:rPr>
              <a:t>2017 has the largest recorded annual total; coverage drops after 2016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6736D"/>
                </a:solidFill>
                <a:latin typeface="Aptos"/>
              </a:rPr>
              <a:t>USD as labeled in the supplied field; amounts with missing values are excluded.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105156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 i="0">
                <a:solidFill>
                  <a:srgbClr val="66736D"/>
                </a:solidFill>
                <a:latin typeface="Aptos"/>
              </a:rPr>
              <a:t>SOURCE: CLEANED CSV — RECALCULATED; SQL/PBI RUNTIME NOT INDEPENDENTLY EXECUTED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D86A4A"/>
                </a:solidFill>
                <a:latin typeface="Aptos"/>
              </a:rPr>
              <a:t>05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572768"/>
          <a:ext cx="7543800" cy="43159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302752" y="1591056"/>
            <a:ext cx="3337560" cy="1143000"/>
          </a:xfrm>
          <a:prstGeom prst="roundRect">
            <a:avLst>
              <a:gd name="adj" fmla="val 8000"/>
            </a:avLst>
          </a:prstGeom>
          <a:solidFill>
            <a:srgbClr val="DF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302752" y="1591056"/>
            <a:ext cx="64008" cy="1143000"/>
          </a:xfrm>
          <a:prstGeom prst="rect">
            <a:avLst/>
          </a:prstGeom>
          <a:solidFill>
            <a:srgbClr val="2C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67344" y="1709928"/>
            <a:ext cx="308152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83F3A"/>
                </a:solidFill>
                <a:latin typeface="Aptos"/>
              </a:rPr>
              <a:t>2017 PEAK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67344" y="1984248"/>
            <a:ext cx="3081528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72D2A"/>
                </a:solidFill>
                <a:latin typeface="Aptos"/>
              </a:rPr>
              <a:t>$10.43B disclosed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2907792"/>
            <a:ext cx="3337560" cy="1325880"/>
          </a:xfrm>
          <a:prstGeom prst="roundRect">
            <a:avLst>
              <a:gd name="adj" fmla="val 8000"/>
            </a:avLst>
          </a:prstGeom>
          <a:solidFill>
            <a:srgbClr val="F4E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02752" y="2907792"/>
            <a:ext cx="64008" cy="1325880"/>
          </a:xfrm>
          <a:prstGeom prst="rect">
            <a:avLst/>
          </a:prstGeom>
          <a:solidFill>
            <a:srgbClr val="D8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67344" y="3026664"/>
            <a:ext cx="308152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83F3A"/>
                </a:solidFill>
                <a:latin typeface="Aptos"/>
              </a:rPr>
              <a:t>2019 CONCENTRATION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67344" y="3300984"/>
            <a:ext cx="3081528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72D2A"/>
                </a:solidFill>
                <a:latin typeface="Aptos"/>
              </a:rPr>
              <a:t>$9.70B across 111 records; mean $92.4M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02752" y="4407408"/>
            <a:ext cx="3337560" cy="1481328"/>
          </a:xfrm>
          <a:prstGeom prst="roundRect">
            <a:avLst>
              <a:gd name="adj" fmla="val 8000"/>
            </a:avLst>
          </a:prstGeom>
          <a:solidFill>
            <a:srgbClr val="F5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02752" y="4407408"/>
            <a:ext cx="64008" cy="1481328"/>
          </a:xfrm>
          <a:prstGeom prst="rect">
            <a:avLst/>
          </a:prstGeom>
          <a:solidFill>
            <a:srgbClr val="C9A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7344" y="4526280"/>
            <a:ext cx="308152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83F3A"/>
                </a:solidFill>
                <a:latin typeface="Aptos"/>
              </a:rPr>
              <a:t>COMPARABILITY ALERT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7344" y="4800600"/>
            <a:ext cx="3081528" cy="10241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72D2A"/>
                </a:solidFill>
                <a:latin typeface="Aptos"/>
              </a:rPr>
              <a:t>2020 contains seven January records only. The -96.0% mechanical YoY change is not a full-year comparison. 2019-03 is absent from the monthly series.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989320"/>
            <a:ext cx="1645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D86A4A"/>
                </a:solidFill>
                <a:latin typeface="Aptos"/>
              </a:rPr>
              <a:t>RECORDS BY YEAR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5961888"/>
            <a:ext cx="1234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66736D"/>
                </a:solidFill>
                <a:latin typeface="Aptos"/>
              </a:rPr>
              <a:t>2015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181344"/>
            <a:ext cx="12344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83F3A"/>
                </a:solidFill>
                <a:latin typeface="Aptos"/>
              </a:rPr>
              <a:t>936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7872" y="5961888"/>
            <a:ext cx="1234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66736D"/>
                </a:solidFill>
                <a:latin typeface="Aptos"/>
              </a:rPr>
              <a:t>2016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7872" y="6181344"/>
            <a:ext cx="12344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83F3A"/>
                </a:solidFill>
                <a:latin typeface="Aptos"/>
              </a:rPr>
              <a:t>993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38344" y="5961888"/>
            <a:ext cx="1234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66736D"/>
                </a:solidFill>
                <a:latin typeface="Aptos"/>
              </a:rPr>
              <a:t>2017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38344" y="6181344"/>
            <a:ext cx="12344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83F3A"/>
                </a:solidFill>
                <a:latin typeface="Aptos"/>
              </a:rPr>
              <a:t>687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8816" y="5961888"/>
            <a:ext cx="1234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66736D"/>
                </a:solidFill>
                <a:latin typeface="Aptos"/>
              </a:rPr>
              <a:t>2018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6" y="6181344"/>
            <a:ext cx="12344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83F3A"/>
                </a:solidFill>
                <a:latin typeface="Aptos"/>
              </a:rPr>
              <a:t>310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9288" y="5961888"/>
            <a:ext cx="1234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66736D"/>
                </a:solidFill>
                <a:latin typeface="Aptos"/>
              </a:rPr>
              <a:t>2019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9288" y="6181344"/>
            <a:ext cx="12344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83F3A"/>
                </a:solidFill>
                <a:latin typeface="Aptos"/>
              </a:rPr>
              <a:t>111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59" y="5961888"/>
            <a:ext cx="1234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66736D"/>
                </a:solidFill>
                <a:latin typeface="Aptos"/>
              </a:rPr>
              <a:t>2020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59" y="6181344"/>
            <a:ext cx="12344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83F3A"/>
                </a:solidFill>
                <a:latin typeface="Aptos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37960"/>
            <a:ext cx="105156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 i="0">
                <a:solidFill>
                  <a:srgbClr val="66736D"/>
                </a:solidFill>
                <a:latin typeface="Aptos"/>
              </a:rPr>
              <a:t>SOURCE: CLEANED CSV — RECALCULATED; SQL/PBI RUNTIME NOT INDEPENDENTLY EXECUTED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D86A4A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98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D86A4A"/>
                </a:solidFill>
                <a:latin typeface="Aptos"/>
              </a:rPr>
              <a:t>04 / INDUSTRY MIX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83F3A"/>
                </a:solidFill>
                <a:latin typeface="Aptos Display"/>
              </a:rPr>
              <a:t>Industry rankings change after exact label variants are consolidated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6736D"/>
                </a:solidFill>
                <a:latin typeface="Aptos"/>
              </a:rPr>
              <a:t>For the e-commerce group, only labels identical after lowercasing and removing punctuation were merged.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105156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 i="0">
                <a:solidFill>
                  <a:srgbClr val="66736D"/>
                </a:solidFill>
                <a:latin typeface="Aptos"/>
              </a:rPr>
              <a:t>SOURCE: CLEANED CSV — RECALCULATED; SQL/PBI RUNTIME NOT INDEPENDENTLY EXECUTED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D86A4A"/>
                </a:solidFill>
                <a:latin typeface="Aptos"/>
              </a:rPr>
              <a:t>06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600200"/>
          <a:ext cx="694944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54112" y="1627632"/>
            <a:ext cx="3877056" cy="1371600"/>
          </a:xfrm>
          <a:prstGeom prst="roundRect">
            <a:avLst>
              <a:gd name="adj" fmla="val 8000"/>
            </a:avLst>
          </a:prstGeom>
          <a:solidFill>
            <a:srgbClr val="DF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54112" y="1627632"/>
            <a:ext cx="64008" cy="1371600"/>
          </a:xfrm>
          <a:prstGeom prst="rect">
            <a:avLst/>
          </a:prstGeom>
          <a:solidFill>
            <a:srgbClr val="2C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18704" y="1746504"/>
            <a:ext cx="362102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83F3A"/>
                </a:solidFill>
                <a:latin typeface="Aptos"/>
              </a:rPr>
              <a:t>E-COMMERCE LABEL VARIANTS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18704" y="2020824"/>
            <a:ext cx="3621024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72D2A"/>
                </a:solidFill>
                <a:latin typeface="Aptos"/>
              </a:rPr>
              <a:t>299 records → $8.26B after exact case/punctuation normalization.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54112" y="3182112"/>
            <a:ext cx="3877056" cy="1371600"/>
          </a:xfrm>
          <a:prstGeom prst="roundRect">
            <a:avLst>
              <a:gd name="adj" fmla="val 8000"/>
            </a:avLst>
          </a:prstGeom>
          <a:solidFill>
            <a:srgbClr val="F4E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54112" y="3182112"/>
            <a:ext cx="64008" cy="1371600"/>
          </a:xfrm>
          <a:prstGeom prst="rect">
            <a:avLst/>
          </a:prstGeom>
          <a:solidFill>
            <a:srgbClr val="D8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18704" y="3300984"/>
            <a:ext cx="362102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83F3A"/>
                </a:solidFill>
                <a:latin typeface="Aptos"/>
              </a:rPr>
              <a:t>TRANSPORTATION OUTLIER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18704" y="3575304"/>
            <a:ext cx="3621024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72D2A"/>
                </a:solidFill>
                <a:latin typeface="Aptos"/>
              </a:rPr>
              <a:t>$3.92B across just four records; the $3.9B Rapido record dominates the total.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54112" y="4736592"/>
            <a:ext cx="3877056" cy="1353312"/>
          </a:xfrm>
          <a:prstGeom prst="roundRect">
            <a:avLst>
              <a:gd name="adj" fmla="val 8000"/>
            </a:avLst>
          </a:prstGeom>
          <a:solidFill>
            <a:srgbClr val="F5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54112" y="4736592"/>
            <a:ext cx="64008" cy="1353312"/>
          </a:xfrm>
          <a:prstGeom prst="rect">
            <a:avLst/>
          </a:prstGeom>
          <a:solidFill>
            <a:srgbClr val="C9A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18704" y="4855464"/>
            <a:ext cx="362102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83F3A"/>
                </a:solidFill>
                <a:latin typeface="Aptos"/>
              </a:rPr>
              <a:t>NEXT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8704" y="5129783"/>
            <a:ext cx="3621024" cy="8961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72D2A"/>
                </a:solidFill>
                <a:latin typeface="Aptos"/>
              </a:rPr>
              <a:t>Create a governed industry dictionary. Keep raw labels, canonical labels, and mapping rationale side-by-side.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37960"/>
            <a:ext cx="105156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 i="0">
                <a:solidFill>
                  <a:srgbClr val="66736D"/>
                </a:solidFill>
                <a:latin typeface="Aptos"/>
              </a:rPr>
              <a:t>SOURCE: CLEANED CSV — RECALCULATED; SQL/PBI RUNTIME NOT INDEPENDENTLY EXECUTED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D86A4A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98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D86A4A"/>
                </a:solidFill>
                <a:latin typeface="Aptos"/>
              </a:rPr>
              <a:t>05 / GEOGRAPHY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83F3A"/>
                </a:solidFill>
                <a:latin typeface="Aptos Display"/>
              </a:rPr>
              <a:t>Bengaluru alone accounts for nearly half of disclosed funding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6736D"/>
                </a:solidFill>
                <a:latin typeface="Aptos"/>
              </a:rPr>
              <a:t>The ranking uses city labels in the supplied cleaned CSV; city/state/country and foreign locations still require a geography-quality flag.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105156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 i="0">
                <a:solidFill>
                  <a:srgbClr val="66736D"/>
                </a:solidFill>
                <a:latin typeface="Aptos"/>
              </a:rPr>
              <a:t>SOURCE: CLEANED CSV — RECALCULATED; SQL/PBI RUNTIME NOT INDEPENDENTLY EXECUTED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D86A4A"/>
                </a:solidFill>
                <a:latin typeface="Aptos"/>
              </a:rPr>
              <a:t>07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627632"/>
          <a:ext cx="704088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818120" y="1691640"/>
            <a:ext cx="3566160" cy="1234440"/>
          </a:xfrm>
          <a:prstGeom prst="roundRect">
            <a:avLst>
              <a:gd name="adj" fmla="val 8000"/>
            </a:avLst>
          </a:prstGeom>
          <a:solidFill>
            <a:srgbClr val="FCFBF7"/>
          </a:solidFill>
          <a:ln w="8890">
            <a:solidFill>
              <a:srgbClr val="D6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18120" y="1691640"/>
            <a:ext cx="64008" cy="1234440"/>
          </a:xfrm>
          <a:prstGeom prst="rect">
            <a:avLst/>
          </a:prstGeom>
          <a:solidFill>
            <a:srgbClr val="2C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82712" y="1801368"/>
            <a:ext cx="331927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6736D"/>
                </a:solidFill>
                <a:latin typeface="Aptos"/>
              </a:rPr>
              <a:t>BENGALURU SHARE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82712" y="2057400"/>
            <a:ext cx="333756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83F3A"/>
                </a:solidFill>
                <a:latin typeface="Aptos Display"/>
              </a:rPr>
              <a:t>48.6%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82712" y="2542032"/>
            <a:ext cx="331012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36D"/>
                </a:solidFill>
                <a:latin typeface="Aptos"/>
              </a:rPr>
              <a:t>of all disclosed funding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3154680"/>
            <a:ext cx="3566160" cy="1234440"/>
          </a:xfrm>
          <a:prstGeom prst="roundRect">
            <a:avLst>
              <a:gd name="adj" fmla="val 8000"/>
            </a:avLst>
          </a:prstGeom>
          <a:solidFill>
            <a:srgbClr val="FCFBF7"/>
          </a:solidFill>
          <a:ln w="8890">
            <a:solidFill>
              <a:srgbClr val="D6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18120" y="3154680"/>
            <a:ext cx="64008" cy="1234440"/>
          </a:xfrm>
          <a:prstGeom prst="rect">
            <a:avLst/>
          </a:prstGeom>
          <a:solidFill>
            <a:srgbClr val="D8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82712" y="3264408"/>
            <a:ext cx="331927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6736D"/>
                </a:solidFill>
                <a:latin typeface="Aptos"/>
              </a:rPr>
              <a:t>TOP 5 CITY SHARE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2712" y="3520440"/>
            <a:ext cx="333756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83F3A"/>
                </a:solidFill>
                <a:latin typeface="Aptos Display"/>
              </a:rPr>
              <a:t>84.0%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82712" y="4005072"/>
            <a:ext cx="331012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36D"/>
                </a:solidFill>
                <a:latin typeface="Aptos"/>
              </a:rPr>
              <a:t>of all disclosed funding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461772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DF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20" y="4617720"/>
            <a:ext cx="64008" cy="1371600"/>
          </a:xfrm>
          <a:prstGeom prst="rect">
            <a:avLst/>
          </a:prstGeom>
          <a:solidFill>
            <a:srgbClr val="2C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82712" y="4736592"/>
            <a:ext cx="331012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83F3A"/>
                </a:solidFill>
                <a:latin typeface="Aptos"/>
              </a:rPr>
              <a:t>GEOGRAPHY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82712" y="5010912"/>
            <a:ext cx="3310128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72D2A"/>
                </a:solidFill>
                <a:latin typeface="Aptos"/>
              </a:rPr>
              <a:t>Add Country and State/Region; isolate valid Indian city records for the India-only view. Use maps only after geocoding is checked.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37960"/>
            <a:ext cx="105156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 i="0">
                <a:solidFill>
                  <a:srgbClr val="66736D"/>
                </a:solidFill>
                <a:latin typeface="Aptos"/>
              </a:rPr>
              <a:t>SOURCE: CLEANED CSV — RECALCULATED; SQL/PBI RUNTIME NOT INDEPENDENTLY EXECUTED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D86A4A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98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D86A4A"/>
                </a:solidFill>
                <a:latin typeface="Aptos"/>
              </a:rPr>
              <a:t>06 / FUNDING STAGE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83F3A"/>
                </a:solidFill>
                <a:latin typeface="Aptos Display"/>
              </a:rPr>
              <a:t>Private Equity contributes 71.4% of disclosed capital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6736D"/>
                </a:solidFill>
                <a:latin typeface="Aptos"/>
              </a:rPr>
              <a:t>Stage results use Investment_Type_Clean as provided in the cleaned CSV, not the separate ad hoc Power BI stage grouping.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105156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 i="0">
                <a:solidFill>
                  <a:srgbClr val="66736D"/>
                </a:solidFill>
                <a:latin typeface="Aptos"/>
              </a:rPr>
              <a:t>SOURCE: CLEANED CSV — RECALCULATED; SQL/PBI RUNTIME NOT INDEPENDENTLY EXECUTED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D86A4A"/>
                </a:solidFill>
                <a:latin typeface="Aptos"/>
              </a:rPr>
              <a:t>08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627632"/>
          <a:ext cx="7132320" cy="444398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882127" y="1664208"/>
            <a:ext cx="3703320" cy="1600200"/>
          </a:xfrm>
          <a:prstGeom prst="roundRect">
            <a:avLst>
              <a:gd name="adj" fmla="val 8000"/>
            </a:avLst>
          </a:prstGeom>
          <a:solidFill>
            <a:srgbClr val="DF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82127" y="1664208"/>
            <a:ext cx="64008" cy="1600200"/>
          </a:xfrm>
          <a:prstGeom prst="rect">
            <a:avLst/>
          </a:prstGeom>
          <a:solidFill>
            <a:srgbClr val="2C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9" y="1783080"/>
            <a:ext cx="3447287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83F3A"/>
                </a:solidFill>
                <a:latin typeface="Aptos"/>
              </a:rPr>
              <a:t>VALUE CONCENTRATION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9" y="2057400"/>
            <a:ext cx="3447287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72D2A"/>
                </a:solidFill>
                <a:latin typeface="Aptos"/>
              </a:rPr>
              <a:t>Private Equity: $27.23B (71.4%) across 1,362 records.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82127" y="3456432"/>
            <a:ext cx="3703320" cy="1600200"/>
          </a:xfrm>
          <a:prstGeom prst="roundRect">
            <a:avLst>
              <a:gd name="adj" fmla="val 8000"/>
            </a:avLst>
          </a:prstGeom>
          <a:solidFill>
            <a:srgbClr val="F4E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82127" y="3456432"/>
            <a:ext cx="64008" cy="1600200"/>
          </a:xfrm>
          <a:prstGeom prst="rect">
            <a:avLst/>
          </a:prstGeom>
          <a:solidFill>
            <a:srgbClr val="D8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9" y="3575303"/>
            <a:ext cx="3447287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83F3A"/>
                </a:solidFill>
                <a:latin typeface="Aptos"/>
              </a:rPr>
              <a:t>VOLUME VS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9" y="3849624"/>
            <a:ext cx="3447287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72D2A"/>
                </a:solidFill>
                <a:latin typeface="Aptos"/>
              </a:rPr>
              <a:t>Seed/Angel: 1,542 records but $1.06B disclosed. Record count and capital volume answer different questions.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2127" y="5230368"/>
            <a:ext cx="3703320" cy="795528"/>
          </a:xfrm>
          <a:prstGeom prst="roundRect">
            <a:avLst>
              <a:gd name="adj" fmla="val 8000"/>
            </a:avLst>
          </a:prstGeom>
          <a:solidFill>
            <a:srgbClr val="F5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82127" y="5230368"/>
            <a:ext cx="64008" cy="795528"/>
          </a:xfrm>
          <a:prstGeom prst="rect">
            <a:avLst/>
          </a:prstGeom>
          <a:solidFill>
            <a:srgbClr val="C9A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9" y="5349240"/>
            <a:ext cx="3447287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83F3A"/>
                </a:solidFill>
                <a:latin typeface="Aptos"/>
              </a:rPr>
              <a:t>MAPPING NOTE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9" y="5623559"/>
            <a:ext cx="3447287" cy="3383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172D2A"/>
                </a:solidFill>
                <a:latin typeface="Aptos"/>
              </a:rPr>
              <a:t>Series D–H remain distinct in this chart; “Other” is the source clean-type bucket.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37960"/>
            <a:ext cx="105156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 i="0">
                <a:solidFill>
                  <a:srgbClr val="66736D"/>
                </a:solidFill>
                <a:latin typeface="Aptos"/>
              </a:rPr>
              <a:t>SOURCE: CLEANED CSV — RECALCULATED; SQL/PBI RUNTIME NOT INDEPENDENTLY EXECUTED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D86A4A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98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D86A4A"/>
                </a:solidFill>
                <a:latin typeface="Aptos"/>
              </a:rPr>
              <a:t>07 / DEAL SIZE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83F3A"/>
                </a:solidFill>
                <a:latin typeface="Aptos Display"/>
              </a:rPr>
              <a:t>The median is the better “typical deal” headline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6736D"/>
                </a:solidFill>
                <a:latin typeface="Aptos"/>
              </a:rPr>
              <a:t>Numeric bands use the 2,073 records with disclosed amounts. Missing amounts are not assigned to a $0 band.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105156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 i="0">
                <a:solidFill>
                  <a:srgbClr val="66736D"/>
                </a:solidFill>
                <a:latin typeface="Aptos"/>
              </a:rPr>
              <a:t>SOURCE: CLEANED CSV — RECALCULATED; SQL/PBI RUNTIME NOT INDEPENDENTLY EXECUTED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D86A4A"/>
                </a:solidFill>
                <a:latin typeface="Aptos"/>
              </a:rPr>
              <a:t>09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645920"/>
          <a:ext cx="713232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891272" y="1755648"/>
            <a:ext cx="3611880" cy="1143000"/>
          </a:xfrm>
          <a:prstGeom prst="roundRect">
            <a:avLst>
              <a:gd name="adj" fmla="val 8000"/>
            </a:avLst>
          </a:prstGeom>
          <a:solidFill>
            <a:srgbClr val="FCFBF7"/>
          </a:solidFill>
          <a:ln w="8890">
            <a:solidFill>
              <a:srgbClr val="D6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91272" y="1755648"/>
            <a:ext cx="64008" cy="1143000"/>
          </a:xfrm>
          <a:prstGeom prst="rect">
            <a:avLst/>
          </a:prstGeom>
          <a:solidFill>
            <a:srgbClr val="2C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55864" y="1865376"/>
            <a:ext cx="336499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6736D"/>
                </a:solidFill>
                <a:latin typeface="Aptos"/>
              </a:rPr>
              <a:t>AVERAGE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55864" y="2121408"/>
            <a:ext cx="338328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83F3A"/>
                </a:solidFill>
                <a:latin typeface="Aptos Display"/>
              </a:rPr>
              <a:t>$18.40M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55864" y="2514600"/>
            <a:ext cx="33558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36D"/>
                </a:solidFill>
                <a:latin typeface="Aptos"/>
              </a:rPr>
              <a:t>per disclosed amount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91272" y="3136392"/>
            <a:ext cx="3611880" cy="1143000"/>
          </a:xfrm>
          <a:prstGeom prst="roundRect">
            <a:avLst>
              <a:gd name="adj" fmla="val 8000"/>
            </a:avLst>
          </a:prstGeom>
          <a:solidFill>
            <a:srgbClr val="FCFBF7"/>
          </a:solidFill>
          <a:ln w="8890">
            <a:solidFill>
              <a:srgbClr val="D6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91272" y="3136392"/>
            <a:ext cx="64008" cy="1143000"/>
          </a:xfrm>
          <a:prstGeom prst="rect">
            <a:avLst/>
          </a:prstGeom>
          <a:solidFill>
            <a:srgbClr val="C9A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55864" y="3246120"/>
            <a:ext cx="336499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6736D"/>
                </a:solidFill>
                <a:latin typeface="Aptos"/>
              </a:rPr>
              <a:t>MEDIAN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4" y="3502152"/>
            <a:ext cx="338328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83F3A"/>
                </a:solidFill>
                <a:latin typeface="Aptos Display"/>
              </a:rPr>
              <a:t>$1.75M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55864" y="3895344"/>
            <a:ext cx="33558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36D"/>
                </a:solidFill>
                <a:latin typeface="Aptos"/>
              </a:rPr>
              <a:t>per disclosed amount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91272" y="4526280"/>
            <a:ext cx="3611880" cy="1554480"/>
          </a:xfrm>
          <a:prstGeom prst="roundRect">
            <a:avLst>
              <a:gd name="adj" fmla="val 8000"/>
            </a:avLst>
          </a:prstGeom>
          <a:solidFill>
            <a:srgbClr val="F4E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91272" y="4526280"/>
            <a:ext cx="64008" cy="1554480"/>
          </a:xfrm>
          <a:prstGeom prst="rect">
            <a:avLst/>
          </a:prstGeom>
          <a:solidFill>
            <a:srgbClr val="D8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4645152"/>
            <a:ext cx="335584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83F3A"/>
                </a:solidFill>
                <a:latin typeface="Aptos"/>
              </a:rPr>
              <a:t>CONCENTRATION 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4919472"/>
            <a:ext cx="3355848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72D2A"/>
                </a:solidFill>
                <a:latin typeface="Aptos"/>
              </a:rPr>
              <a:t>Top 10 recorded deals total $13.27B, or 34.8% of disclosed funding. Validate the $3.9B record before business interpretation.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37960"/>
            <a:ext cx="105156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 i="0">
                <a:solidFill>
                  <a:srgbClr val="66736D"/>
                </a:solidFill>
                <a:latin typeface="Aptos"/>
              </a:rPr>
              <a:t>SOURCE: CLEANED CSV — RECALCULATED; SQL/PBI RUNTIME NOT INDEPENDENTLY EXECUTED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D86A4A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98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D86A4A"/>
                </a:solidFill>
                <a:latin typeface="Aptos"/>
              </a:rPr>
              <a:t>08 / INVESTOR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83F3A"/>
                </a:solidFill>
                <a:latin typeface="Aptos Display"/>
              </a:rPr>
              <a:t>Investor rankings are not yet entity-safe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6736D"/>
                </a:solidFill>
                <a:latin typeface="Aptos"/>
              </a:rPr>
              <a:t>The current text field represents strings on a funding record; several strings contain multiple co-investors.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105156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 i="0">
                <a:solidFill>
                  <a:srgbClr val="66736D"/>
                </a:solidFill>
                <a:latin typeface="Aptos"/>
              </a:rPr>
              <a:t>SOURCE: CLEANED CSV — RECALCULATED; SQL/PBI RUNTIME NOT INDEPENDENTLY EXECUTED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D86A4A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18488"/>
            <a:ext cx="3401568" cy="1280160"/>
          </a:xfrm>
          <a:prstGeom prst="roundRect">
            <a:avLst>
              <a:gd name="adj" fmla="val 8000"/>
            </a:avLst>
          </a:prstGeom>
          <a:solidFill>
            <a:srgbClr val="FCFBF7"/>
          </a:solidFill>
          <a:ln w="8890">
            <a:solidFill>
              <a:srgbClr val="D6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18488"/>
            <a:ext cx="64008" cy="1280160"/>
          </a:xfrm>
          <a:prstGeom prst="rect">
            <a:avLst/>
          </a:prstGeom>
          <a:solidFill>
            <a:srgbClr val="2C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28216"/>
            <a:ext cx="31546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6736D"/>
                </a:solidFill>
                <a:latin typeface="Aptos"/>
              </a:rPr>
              <a:t>DISTINCT STRINGS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984248"/>
            <a:ext cx="3172968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83F3A"/>
                </a:solidFill>
                <a:latin typeface="Aptos Display"/>
              </a:rPr>
              <a:t>2,364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514600"/>
            <a:ext cx="314553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36D"/>
                </a:solidFill>
                <a:latin typeface="Aptos"/>
              </a:rPr>
              <a:t>not unique investor entities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87952" y="1618488"/>
            <a:ext cx="3401568" cy="1280160"/>
          </a:xfrm>
          <a:prstGeom prst="roundRect">
            <a:avLst>
              <a:gd name="adj" fmla="val 8000"/>
            </a:avLst>
          </a:prstGeom>
          <a:solidFill>
            <a:srgbClr val="FCFBF7"/>
          </a:solidFill>
          <a:ln w="8890">
            <a:solidFill>
              <a:srgbClr val="D6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87952" y="1618488"/>
            <a:ext cx="64008" cy="1280160"/>
          </a:xfrm>
          <a:prstGeom prst="rect">
            <a:avLst/>
          </a:prstGeom>
          <a:solidFill>
            <a:srgbClr val="C9A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728216"/>
            <a:ext cx="31546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6736D"/>
                </a:solidFill>
                <a:latin typeface="Aptos"/>
              </a:rPr>
              <a:t>UNKNOWN INVESTOR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52544" y="1984248"/>
            <a:ext cx="3172968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83F3A"/>
                </a:solidFill>
                <a:latin typeface="Aptos Display"/>
              </a:rPr>
              <a:t>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2544" y="2514600"/>
            <a:ext cx="314553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36D"/>
                </a:solidFill>
                <a:latin typeface="Aptos"/>
              </a:rPr>
              <a:t>records labeled Unknown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27264" y="1618488"/>
            <a:ext cx="3401568" cy="1280160"/>
          </a:xfrm>
          <a:prstGeom prst="roundRect">
            <a:avLst>
              <a:gd name="adj" fmla="val 8000"/>
            </a:avLst>
          </a:prstGeom>
          <a:solidFill>
            <a:srgbClr val="FCFBF7"/>
          </a:solidFill>
          <a:ln w="8890">
            <a:solidFill>
              <a:srgbClr val="D6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27264" y="1618488"/>
            <a:ext cx="64008" cy="1280160"/>
          </a:xfrm>
          <a:prstGeom prst="rect">
            <a:avLst/>
          </a:prstGeom>
          <a:solidFill>
            <a:srgbClr val="D8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91856" y="1728216"/>
            <a:ext cx="31546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6736D"/>
                </a:solidFill>
                <a:latin typeface="Aptos"/>
              </a:rPr>
              <a:t>UNDISCLOSED LABELS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91856" y="1984248"/>
            <a:ext cx="3172968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83F3A"/>
                </a:solidFill>
                <a:latin typeface="Aptos Display"/>
              </a:rPr>
              <a:t>115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91856" y="2514600"/>
            <a:ext cx="314553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36D"/>
                </a:solidFill>
                <a:latin typeface="Aptos"/>
              </a:rPr>
              <a:t>records labeled Undisclosed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182112"/>
            <a:ext cx="5440680" cy="2423160"/>
          </a:xfrm>
          <a:prstGeom prst="roundRect">
            <a:avLst>
              <a:gd name="adj" fmla="val 8000"/>
            </a:avLst>
          </a:prstGeom>
          <a:solidFill>
            <a:srgbClr val="FCFBF7"/>
          </a:solidFill>
          <a:ln w="8890">
            <a:solidFill>
              <a:srgbClr val="D6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401568"/>
            <a:ext cx="484632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D86A4A"/>
                </a:solidFill>
                <a:latin typeface="Aptos"/>
              </a:rPr>
              <a:t>WHY THE LEADERBOARD CAN MISLEAD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3822191"/>
            <a:ext cx="4800600" cy="1508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000">
                <a:solidFill>
                  <a:srgbClr val="172D2A"/>
                </a:solidFill>
                <a:latin typeface="Aptos"/>
              </a:rPr>
              <a:t>•  SQL groups by the full Investors_Name string.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72D2A"/>
                </a:solidFill>
                <a:latin typeface="Aptos"/>
              </a:rPr>
              <a:t>•  A joint string such as “Microsoft, eBay, Tencent Holdings” is counted as one label.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72D2A"/>
                </a:solidFill>
                <a:latin typeface="Aptos"/>
              </a:rPr>
              <a:t>•  Assigning the full funding amount to each split name would double-count unless defined as exposure.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182112"/>
            <a:ext cx="4983480" cy="2423160"/>
          </a:xfrm>
          <a:prstGeom prst="roundRect">
            <a:avLst>
              <a:gd name="adj" fmla="val 8000"/>
            </a:avLst>
          </a:prstGeom>
          <a:solidFill>
            <a:srgbClr val="DF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3401568"/>
            <a:ext cx="448056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C7A72"/>
                </a:solidFill>
                <a:latin typeface="Aptos"/>
              </a:rPr>
              <a:t>RECOMMENDED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3822191"/>
            <a:ext cx="4407408" cy="1508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172D2A"/>
                </a:solidFill>
                <a:latin typeface="Aptos"/>
              </a:rPr>
              <a:t>•  Funding_Round_ID + Investor dimension.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172D2A"/>
                </a:solidFill>
                <a:latin typeface="Aptos"/>
              </a:rPr>
              <a:t>•  FundingRoundInvestor bridge table for co-investors.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172D2A"/>
                </a:solidFill>
                <a:latin typeface="Aptos"/>
              </a:rPr>
              <a:t>•  Explicit attribution rule: full exposure vs allocated share.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172D2A"/>
                </a:solidFill>
                <a:latin typeface="Aptos"/>
              </a:rPr>
              <a:t>•  Keep Unknown/Undisclosed visible in the full view.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6984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1">
                <a:solidFill>
                  <a:srgbClr val="66736D"/>
                </a:solidFill>
                <a:latin typeface="Aptos"/>
              </a:rPr>
              <a:t>SQL review: query PDF inspected; live MySQL execution was not available. The MoM logic also needs a complete calendar-month spine.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37960"/>
            <a:ext cx="105156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 i="0">
                <a:solidFill>
                  <a:srgbClr val="66736D"/>
                </a:solidFill>
                <a:latin typeface="Aptos"/>
              </a:rPr>
              <a:t>SOURCE: CLEANED CSV — RECALCULATED; SQL/PBI RUNTIME NOT INDEPENDENTLY EXECUTED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D86A4A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98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D86A4A"/>
                </a:solidFill>
                <a:latin typeface="Aptos"/>
              </a:rPr>
              <a:t>09 / POWER BI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83F3A"/>
                </a:solidFill>
                <a:latin typeface="Aptos Display"/>
              </a:rPr>
              <a:t>Dashboards are built; reconciliation is the release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6736D"/>
                </a:solidFill>
                <a:latin typeface="Aptos"/>
              </a:rPr>
              <a:t>Screenshots show the current user-provided build; they are not the calculation source for reported findings.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105156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 i="0">
                <a:solidFill>
                  <a:srgbClr val="66736D"/>
                </a:solidFill>
                <a:latin typeface="Aptos"/>
              </a:rPr>
              <a:t>SOURCE: CLEANED CSV — RECALCULATED; SQL/PBI RUNTIME NOT INDEPENDENTLY EXECUTED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D86A4A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3456432" cy="4407408"/>
          </a:xfrm>
          <a:prstGeom prst="roundRect">
            <a:avLst>
              <a:gd name="adj" fmla="val 8000"/>
            </a:avLst>
          </a:prstGeom>
          <a:solidFill>
            <a:srgbClr val="F5F1E7"/>
          </a:solidFill>
          <a:ln w="8890">
            <a:solidFill>
              <a:srgbClr val="D6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(20261028-081259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773936"/>
            <a:ext cx="3218688" cy="1627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7512" y="3767328"/>
            <a:ext cx="31089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83F3A"/>
                </a:solidFill>
                <a:latin typeface="Aptos"/>
              </a:rPr>
              <a:t>01  Executive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4133087"/>
            <a:ext cx="3081528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72D2A"/>
                </a:solidFill>
                <a:latin typeface="Aptos"/>
              </a:rPr>
              <a:t>KPI check: CSV count is 73 distinct City labels; screenshot shows 72. Confirm the city-clean measure definition.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600200"/>
            <a:ext cx="3456432" cy="4407408"/>
          </a:xfrm>
          <a:prstGeom prst="roundRect">
            <a:avLst>
              <a:gd name="adj" fmla="val 8000"/>
            </a:avLst>
          </a:prstGeom>
          <a:solidFill>
            <a:srgbClr val="F5F1E7"/>
          </a:solidFill>
          <a:ln w="8890">
            <a:solidFill>
              <a:srgbClr val="D6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(20261028-081318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773936"/>
            <a:ext cx="3218688" cy="180141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35424" y="3767328"/>
            <a:ext cx="31089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83F3A"/>
                </a:solidFill>
                <a:latin typeface="Aptos"/>
              </a:rPr>
              <a:t>02  Industry, city &amp; investor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4133087"/>
            <a:ext cx="3081528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72D2A"/>
                </a:solidFill>
                <a:latin typeface="Aptos"/>
              </a:rPr>
              <a:t>City-table totals differ from direct CSV aggregation in at least one row; investor table sort/attribution needs control.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38744" y="1600200"/>
            <a:ext cx="3456432" cy="4407408"/>
          </a:xfrm>
          <a:prstGeom prst="roundRect">
            <a:avLst>
              <a:gd name="adj" fmla="val 8000"/>
            </a:avLst>
          </a:prstGeom>
          <a:solidFill>
            <a:srgbClr val="F5F1E7"/>
          </a:solidFill>
          <a:ln w="8890">
            <a:solidFill>
              <a:srgbClr val="D6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(20261028-081334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7616" y="1773936"/>
            <a:ext cx="3218688" cy="178185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403336" y="3767328"/>
            <a:ext cx="31089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83F3A"/>
                </a:solidFill>
                <a:latin typeface="Aptos"/>
              </a:rPr>
              <a:t>03  Stage &amp; deal size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4133087"/>
            <a:ext cx="3081528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72D2A"/>
                </a:solidFill>
                <a:latin typeface="Aptos"/>
              </a:rPr>
              <a:t>Deal-size order is forced by numeric prefixes. Document the custom Funding Stage mapping and reconcile it to Investment_Type_Clean.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" y="6053328"/>
            <a:ext cx="11009376" cy="384048"/>
          </a:xfrm>
          <a:prstGeom prst="roundRect">
            <a:avLst>
              <a:gd name="adj" fmla="val 8000"/>
            </a:avLst>
          </a:prstGeom>
          <a:solidFill>
            <a:srgbClr val="F4E1D9"/>
          </a:solidFill>
          <a:ln w="8890">
            <a:solidFill>
              <a:srgbClr val="D6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0352" y="6053328"/>
            <a:ext cx="64008" cy="384048"/>
          </a:xfrm>
          <a:prstGeom prst="rect">
            <a:avLst/>
          </a:prstGeom>
          <a:solidFill>
            <a:srgbClr val="D8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6126480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183F3A"/>
                </a:solidFill>
                <a:latin typeface="Aptos"/>
              </a:rPr>
              <a:t>RELEASE 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47088" y="6108192"/>
            <a:ext cx="94640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172D2A"/>
                </a:solidFill>
                <a:latin typeface="Aptos"/>
              </a:rPr>
              <a:t>Reconcile totals under identical filters, validate DAX and relationships in Power BI Desktop, then capture refreshed screenshots.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37960"/>
            <a:ext cx="105156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 i="0">
                <a:solidFill>
                  <a:srgbClr val="66736D"/>
                </a:solidFill>
                <a:latin typeface="Aptos"/>
              </a:rPr>
              <a:t>SOURCE: CLEANED CSV — RECALCULATED; SQL/PBI RUNTIME NOT INDEPENDENTLY EXECUTED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D86A4A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972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C9A456"/>
                </a:solidFill>
                <a:latin typeface="Aptos"/>
              </a:rPr>
              <a:t>10 / DECISION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97280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5F1E7"/>
                </a:solidFill>
                <a:latin typeface="Aptos Display"/>
              </a:rPr>
              <a:t>Make the next version audit-ready before adding complexity.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856231"/>
            <a:ext cx="2578608" cy="2331720"/>
          </a:xfrm>
          <a:prstGeom prst="roundRect">
            <a:avLst>
              <a:gd name="adj" fmla="val 8000"/>
            </a:avLst>
          </a:prstGeom>
          <a:solidFill>
            <a:srgbClr val="FC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856231"/>
            <a:ext cx="2578608" cy="82296"/>
          </a:xfrm>
          <a:prstGeom prst="rect">
            <a:avLst/>
          </a:prstGeom>
          <a:solidFill>
            <a:srgbClr val="D8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84831"/>
            <a:ext cx="219456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D86A4A"/>
                </a:solidFill>
                <a:latin typeface="Aptos"/>
              </a:rPr>
              <a:t>0–2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14016"/>
            <a:ext cx="21945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83F3A"/>
                </a:solidFill>
                <a:latin typeface="Aptos Display"/>
              </a:rPr>
              <a:t>Reconcile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07792"/>
            <a:ext cx="2212848" cy="9784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72D2A"/>
                </a:solidFill>
                <a:latin typeface="Aptos"/>
              </a:rPr>
              <a:t>Totals, row counts, city totals, stage totals and slicers match the cleaned CSV.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38144" y="1856231"/>
            <a:ext cx="2578608" cy="2331720"/>
          </a:xfrm>
          <a:prstGeom prst="roundRect">
            <a:avLst>
              <a:gd name="adj" fmla="val 8000"/>
            </a:avLst>
          </a:prstGeom>
          <a:solidFill>
            <a:srgbClr val="FC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38144" y="1856231"/>
            <a:ext cx="2578608" cy="82296"/>
          </a:xfrm>
          <a:prstGeom prst="rect">
            <a:avLst/>
          </a:prstGeom>
          <a:solidFill>
            <a:srgbClr val="C9A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2736" y="2084831"/>
            <a:ext cx="219456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D86A4A"/>
                </a:solidFill>
                <a:latin typeface="Aptos"/>
              </a:rPr>
              <a:t>WEEK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2736" y="2414016"/>
            <a:ext cx="21945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83F3A"/>
                </a:solidFill>
                <a:latin typeface="Aptos Display"/>
              </a:rPr>
              <a:t>Standardize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2736" y="2907792"/>
            <a:ext cx="2212848" cy="9784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72D2A"/>
                </a:solidFill>
                <a:latin typeface="Aptos"/>
              </a:rPr>
              <a:t>Publish canonical industry and geography mappings with raw values retained.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856231"/>
            <a:ext cx="2578608" cy="2331720"/>
          </a:xfrm>
          <a:prstGeom prst="roundRect">
            <a:avLst>
              <a:gd name="adj" fmla="val 8000"/>
            </a:avLst>
          </a:prstGeom>
          <a:solidFill>
            <a:srgbClr val="FC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856231"/>
            <a:ext cx="2578608" cy="82296"/>
          </a:xfrm>
          <a:prstGeom prst="rect">
            <a:avLst/>
          </a:prstGeom>
          <a:solidFill>
            <a:srgbClr val="2C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2084831"/>
            <a:ext cx="219456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D86A4A"/>
                </a:solidFill>
                <a:latin typeface="Aptos"/>
              </a:rPr>
              <a:t>WEEK 1–2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414016"/>
            <a:ext cx="21945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83F3A"/>
                </a:solidFill>
                <a:latin typeface="Aptos Display"/>
              </a:rPr>
              <a:t>Model investors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907792"/>
            <a:ext cx="2212848" cy="9784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72D2A"/>
                </a:solidFill>
                <a:latin typeface="Aptos"/>
              </a:rPr>
              <a:t>Create investor dimension/bridge and approve attribution rules.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0576" y="1856231"/>
            <a:ext cx="2578608" cy="2331720"/>
          </a:xfrm>
          <a:prstGeom prst="roundRect">
            <a:avLst>
              <a:gd name="adj" fmla="val 8000"/>
            </a:avLst>
          </a:prstGeom>
          <a:solidFill>
            <a:srgbClr val="FC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0576" y="1856231"/>
            <a:ext cx="2578608" cy="82296"/>
          </a:xfrm>
          <a:prstGeom prst="rect">
            <a:avLst/>
          </a:prstGeom>
          <a:solidFill>
            <a:srgbClr val="DF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7" y="2084831"/>
            <a:ext cx="219456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D86A4A"/>
                </a:solidFill>
                <a:latin typeface="Aptos"/>
              </a:rPr>
              <a:t>WEEK 2–4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5167" y="2414016"/>
            <a:ext cx="21945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83F3A"/>
                </a:solidFill>
                <a:latin typeface="Aptos Display"/>
              </a:rPr>
              <a:t>Release with QA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45167" y="2907792"/>
            <a:ext cx="2212848" cy="9784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72D2A"/>
                </a:solidFill>
                <a:latin typeface="Aptos"/>
              </a:rPr>
              <a:t>Calendar-safe MoM, 2020 partial-period caveat, outlier review, and repeatable refresh tests.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599432"/>
            <a:ext cx="10881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C9A456"/>
                </a:solidFill>
                <a:latin typeface="Aptos"/>
              </a:rPr>
              <a:t>MONITOR EACH REFRESH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010912"/>
            <a:ext cx="166420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DFE8E0"/>
                </a:solidFill>
                <a:latin typeface="Aptos"/>
              </a:rPr>
              <a:t>FUNDING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285232"/>
            <a:ext cx="166420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5F1E7"/>
                </a:solidFill>
                <a:latin typeface="Aptos"/>
              </a:rPr>
              <a:t>$38.144B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87168" y="5010912"/>
            <a:ext cx="166420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DFE8E0"/>
                </a:solidFill>
                <a:latin typeface="Aptos"/>
              </a:rPr>
              <a:t>ROWS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87168" y="5285232"/>
            <a:ext cx="166420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5F1E7"/>
                </a:solidFill>
                <a:latin typeface="Aptos"/>
              </a:rPr>
              <a:t>3,044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256" y="5010912"/>
            <a:ext cx="166420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DFE8E0"/>
                </a:solidFill>
                <a:latin typeface="Aptos"/>
              </a:rPr>
              <a:t>AMOUNTS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34256" y="5285232"/>
            <a:ext cx="166420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5F1E7"/>
                </a:solidFill>
                <a:latin typeface="Aptos"/>
              </a:rPr>
              <a:t>2,073 / 3,044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81344" y="5010912"/>
            <a:ext cx="166420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DFE8E0"/>
                </a:solidFill>
                <a:latin typeface="Aptos"/>
              </a:rPr>
              <a:t>DISCLOSURE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81344" y="5285232"/>
            <a:ext cx="166420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5F1E7"/>
                </a:solidFill>
                <a:latin typeface="Aptos"/>
              </a:rPr>
              <a:t>68.1%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28431" y="5010912"/>
            <a:ext cx="166420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DFE8E0"/>
                </a:solidFill>
                <a:latin typeface="Aptos"/>
              </a:rPr>
              <a:t>DUPLICATES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28431" y="5285232"/>
            <a:ext cx="166420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5F1E7"/>
                </a:solidFill>
                <a:latin typeface="Aptos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19" y="5010912"/>
            <a:ext cx="166420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DFE8E0"/>
                </a:solidFill>
                <a:latin typeface="Aptos"/>
              </a:rPr>
              <a:t>OUTLIER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19" y="5285232"/>
            <a:ext cx="166420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5F1E7"/>
                </a:solidFill>
                <a:latin typeface="Aptos"/>
              </a:rPr>
              <a:t>$3.9B max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833872"/>
            <a:ext cx="10927080" cy="22860"/>
          </a:xfrm>
          <a:prstGeom prst="rect">
            <a:avLst/>
          </a:prstGeom>
          <a:solidFill>
            <a:srgbClr val="2C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6016752"/>
            <a:ext cx="10881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5F1E7"/>
                </a:solidFill>
                <a:latin typeface="Aptos"/>
              </a:rPr>
              <a:t>BOTTOM LINE: disclosed capital is highly concentrated. Trustworthy action depends on source validation, taxonomy governance, and consistent period/attribution logic.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537960"/>
            <a:ext cx="105156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 i="0">
                <a:solidFill>
                  <a:srgbClr val="66736D"/>
                </a:solidFill>
                <a:latin typeface="Aptos"/>
              </a:rPr>
              <a:t>EVIDENCE STATUS: CLEANED CSV RE-CALCULATED; NOTEBOOK/SQL/DAX RUNTIME EXECUTION NOT INDEPENDENTLY COMPLETED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D86A4A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